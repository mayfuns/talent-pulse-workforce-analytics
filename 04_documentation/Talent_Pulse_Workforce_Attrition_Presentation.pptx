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8DBB8-4E42-421B-B0A6-8A9E523A0312}" v="52" dt="2026-08-12T13:40:00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detoyi" userId="7e81e1d6fa8fc368" providerId="LiveId" clId="{3C3DC834-3685-4743-B832-70FC510EA59C}"/>
    <pc:docChg chg="undo custSel modSld modMainMaster">
      <pc:chgData name="Mariam Adetoyi" userId="7e81e1d6fa8fc368" providerId="LiveId" clId="{3C3DC834-3685-4743-B832-70FC510EA59C}" dt="2026-08-12T13:40:00.180" v="109" actId="207"/>
      <pc:docMkLst>
        <pc:docMk/>
      </pc:docMkLst>
      <pc:sldChg chg="modSp mod setBg">
        <pc:chgData name="Mariam Adetoyi" userId="7e81e1d6fa8fc368" providerId="LiveId" clId="{3C3DC834-3685-4743-B832-70FC510EA59C}" dt="2026-08-12T13:28:31.797" v="35" actId="108"/>
        <pc:sldMkLst>
          <pc:docMk/>
          <pc:sldMk cId="0" sldId="256"/>
        </pc:sldMkLst>
        <pc:spChg chg="mod">
          <ac:chgData name="Mariam Adetoyi" userId="7e81e1d6fa8fc368" providerId="LiveId" clId="{3C3DC834-3685-4743-B832-70FC510EA59C}" dt="2026-08-12T13:28:04.177" v="30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8:27.102" v="34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8:31.797" v="35" actId="108"/>
          <ac:spMkLst>
            <pc:docMk/>
            <pc:sldMk cId="0" sldId="256"/>
            <ac:spMk id="11" creationId="{00000000-0000-0000-0000-000000000000}"/>
          </ac:spMkLst>
        </pc:spChg>
      </pc:sldChg>
      <pc:sldChg chg="modSp mod setBg">
        <pc:chgData name="Mariam Adetoyi" userId="7e81e1d6fa8fc368" providerId="LiveId" clId="{3C3DC834-3685-4743-B832-70FC510EA59C}" dt="2026-08-12T13:31:11.663" v="53" actId="207"/>
        <pc:sldMkLst>
          <pc:docMk/>
          <pc:sldMk cId="0" sldId="257"/>
        </pc:sldMkLst>
        <pc:spChg chg="mod">
          <ac:chgData name="Mariam Adetoyi" userId="7e81e1d6fa8fc368" providerId="LiveId" clId="{3C3DC834-3685-4743-B832-70FC510EA59C}" dt="2026-08-12T13:29:02.604" v="36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9:08.727" v="37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0:53.317" v="50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0:56.286" v="51" actId="108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1:01.359" v="52" actId="1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1:11.663" v="53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9:20.926" v="4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9:19.507" v="40" actId="10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9:24.456" v="42" actId="10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9:51.361" v="44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9:55.401" v="45" actId="10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0:34.658" v="49" actId="20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0:19.376" v="48" actId="207"/>
          <ac:spMkLst>
            <pc:docMk/>
            <pc:sldMk cId="0" sldId="257"/>
            <ac:spMk id="22" creationId="{00000000-0000-0000-0000-000000000000}"/>
          </ac:spMkLst>
        </pc:spChg>
      </pc:sldChg>
      <pc:sldChg chg="modSp mod setBg">
        <pc:chgData name="Mariam Adetoyi" userId="7e81e1d6fa8fc368" providerId="LiveId" clId="{3C3DC834-3685-4743-B832-70FC510EA59C}" dt="2026-08-12T13:34:02.541" v="75" actId="207"/>
        <pc:sldMkLst>
          <pc:docMk/>
          <pc:sldMk cId="0" sldId="258"/>
        </pc:sldMkLst>
        <pc:spChg chg="mod">
          <ac:chgData name="Mariam Adetoyi" userId="7e81e1d6fa8fc368" providerId="LiveId" clId="{3C3DC834-3685-4743-B832-70FC510EA59C}" dt="2026-08-12T13:31:25.195" v="54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1:30.491" v="55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1:35.382" v="57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1:40.442" v="59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1:49.419" v="60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1:53.320" v="62" actId="276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2:40.450" v="68" actId="20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2:04.211" v="63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3:40.444" v="72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2:07.704" v="64" actId="10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3:32.126" v="71" actId="20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2:16.501" v="65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3:15.319" v="70" actId="20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2:21.065" v="67" actId="2763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4:02.541" v="75" actId="20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3:57.270" v="74" actId="207"/>
          <ac:spMkLst>
            <pc:docMk/>
            <pc:sldMk cId="0" sldId="258"/>
            <ac:spMk id="24" creationId="{00000000-0000-0000-0000-000000000000}"/>
          </ac:spMkLst>
        </pc:spChg>
      </pc:sldChg>
      <pc:sldChg chg="modSp mod setBg">
        <pc:chgData name="Mariam Adetoyi" userId="7e81e1d6fa8fc368" providerId="LiveId" clId="{3C3DC834-3685-4743-B832-70FC510EA59C}" dt="2026-08-12T13:39:26.240" v="107"/>
        <pc:sldMkLst>
          <pc:docMk/>
          <pc:sldMk cId="0" sldId="259"/>
        </pc:sldMkLst>
        <pc:spChg chg="mod">
          <ac:chgData name="Mariam Adetoyi" userId="7e81e1d6fa8fc368" providerId="LiveId" clId="{3C3DC834-3685-4743-B832-70FC510EA59C}" dt="2026-08-12T13:36:27.405" v="9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6:33.820" v="93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5:51.513" v="88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5:38.146" v="87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5:21.907" v="85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5:26.867" v="86" actId="10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6:16.825" v="91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6:38.249" v="94" actId="108"/>
          <ac:spMkLst>
            <pc:docMk/>
            <pc:sldMk cId="0" sldId="259"/>
            <ac:spMk id="13" creationId="{00000000-0000-0000-0000-000000000000}"/>
          </ac:spMkLst>
        </pc:spChg>
        <pc:graphicFrameChg chg="mod">
          <ac:chgData name="Mariam Adetoyi" userId="7e81e1d6fa8fc368" providerId="LiveId" clId="{3C3DC834-3685-4743-B832-70FC510EA59C}" dt="2026-08-12T13:39:26.240" v="107"/>
          <ac:graphicFrameMkLst>
            <pc:docMk/>
            <pc:sldMk cId="0" sldId="259"/>
            <ac:graphicFrameMk id="5" creationId="{00000000-0000-0000-0000-000000000000}"/>
          </ac:graphicFrameMkLst>
        </pc:graphicFrameChg>
        <pc:graphicFrameChg chg="mod">
          <ac:chgData name="Mariam Adetoyi" userId="7e81e1d6fa8fc368" providerId="LiveId" clId="{3C3DC834-3685-4743-B832-70FC510EA59C}" dt="2026-08-12T13:35:04.559" v="84" actId="108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  <pc:sldChg chg="modSp mod setBg">
        <pc:chgData name="Mariam Adetoyi" userId="7e81e1d6fa8fc368" providerId="LiveId" clId="{3C3DC834-3685-4743-B832-70FC510EA59C}" dt="2026-08-12T13:27:21.285" v="29" actId="108"/>
        <pc:sldMkLst>
          <pc:docMk/>
          <pc:sldMk cId="0" sldId="260"/>
        </pc:sldMkLst>
        <pc:spChg chg="mod">
          <ac:chgData name="Mariam Adetoyi" userId="7e81e1d6fa8fc368" providerId="LiveId" clId="{3C3DC834-3685-4743-B832-70FC510EA59C}" dt="2026-08-12T13:25:36.234" v="17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5:02.330" v="12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27:13.470" v="27" actId="207"/>
          <ac:spMkLst>
            <pc:docMk/>
            <pc:sldMk cId="0" sldId="260"/>
            <ac:spMk id="8" creationId="{00000000-0000-0000-0000-000000000000}"/>
          </ac:spMkLst>
        </pc:spChg>
        <pc:graphicFrameChg chg="mod">
          <ac:chgData name="Mariam Adetoyi" userId="7e81e1d6fa8fc368" providerId="LiveId" clId="{3C3DC834-3685-4743-B832-70FC510EA59C}" dt="2026-08-12T13:26:17.249" v="24"/>
          <ac:graphicFrameMkLst>
            <pc:docMk/>
            <pc:sldMk cId="0" sldId="260"/>
            <ac:graphicFrameMk id="5" creationId="{00000000-0000-0000-0000-000000000000}"/>
          </ac:graphicFrameMkLst>
        </pc:graphicFrameChg>
        <pc:graphicFrameChg chg="mod">
          <ac:chgData name="Mariam Adetoyi" userId="7e81e1d6fa8fc368" providerId="LiveId" clId="{3C3DC834-3685-4743-B832-70FC510EA59C}" dt="2026-08-12T13:27:21.285" v="29" actId="108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 setBg">
        <pc:chgData name="Mariam Adetoyi" userId="7e81e1d6fa8fc368" providerId="LiveId" clId="{3C3DC834-3685-4743-B832-70FC510EA59C}" dt="2026-08-12T13:38:00.041" v="106" actId="108"/>
        <pc:sldMkLst>
          <pc:docMk/>
          <pc:sldMk cId="0" sldId="261"/>
        </pc:sldMkLst>
        <pc:spChg chg="mod">
          <ac:chgData name="Mariam Adetoyi" userId="7e81e1d6fa8fc368" providerId="LiveId" clId="{3C3DC834-3685-4743-B832-70FC510EA59C}" dt="2026-08-12T13:37:37.632" v="102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7:46.483" v="104" actId="108"/>
          <ac:spMkLst>
            <pc:docMk/>
            <pc:sldMk cId="0" sldId="261"/>
            <ac:spMk id="9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7:54.234" v="105" actId="20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riam Adetoyi" userId="7e81e1d6fa8fc368" providerId="LiveId" clId="{3C3DC834-3685-4743-B832-70FC510EA59C}" dt="2026-08-12T13:38:00.041" v="106" actId="108"/>
          <ac:spMkLst>
            <pc:docMk/>
            <pc:sldMk cId="0" sldId="261"/>
            <ac:spMk id="12" creationId="{00000000-0000-0000-0000-000000000000}"/>
          </ac:spMkLst>
        </pc:spChg>
        <pc:graphicFrameChg chg="mod">
          <ac:chgData name="Mariam Adetoyi" userId="7e81e1d6fa8fc368" providerId="LiveId" clId="{3C3DC834-3685-4743-B832-70FC510EA59C}" dt="2026-08-12T13:37:28.262" v="100"/>
          <ac:graphicFrameMkLst>
            <pc:docMk/>
            <pc:sldMk cId="0" sldId="261"/>
            <ac:graphicFrameMk id="5" creationId="{00000000-0000-0000-0000-000000000000}"/>
          </ac:graphicFrameMkLst>
        </pc:graphicFrameChg>
        <pc:graphicFrameChg chg="mod">
          <ac:chgData name="Mariam Adetoyi" userId="7e81e1d6fa8fc368" providerId="LiveId" clId="{3C3DC834-3685-4743-B832-70FC510EA59C}" dt="2026-08-12T13:37:17.908" v="98" actId="108"/>
          <ac:graphicFrameMkLst>
            <pc:docMk/>
            <pc:sldMk cId="0" sldId="261"/>
            <ac:graphicFrameMk id="6" creationId="{00000000-0000-0000-0000-000000000000}"/>
          </ac:graphicFrameMkLst>
        </pc:graphicFrameChg>
      </pc:sldChg>
      <pc:sldChg chg="modSp setBg">
        <pc:chgData name="Mariam Adetoyi" userId="7e81e1d6fa8fc368" providerId="LiveId" clId="{3C3DC834-3685-4743-B832-70FC510EA59C}" dt="2026-08-12T13:40:00.180" v="109" actId="207"/>
        <pc:sldMkLst>
          <pc:docMk/>
          <pc:sldMk cId="0" sldId="262"/>
        </pc:sldMkLst>
        <pc:graphicFrameChg chg="mod">
          <ac:chgData name="Mariam Adetoyi" userId="7e81e1d6fa8fc368" providerId="LiveId" clId="{3C3DC834-3685-4743-B832-70FC510EA59C}" dt="2026-08-12T13:40:00.180" v="109" actId="207"/>
          <ac:graphicFrameMkLst>
            <pc:docMk/>
            <pc:sldMk cId="0" sldId="262"/>
            <ac:graphicFrameMk id="5" creationId="{00000000-0000-0000-0000-000000000000}"/>
          </ac:graphicFrameMkLst>
        </pc:graphicFrameChg>
        <pc:graphicFrameChg chg="mod">
          <ac:chgData name="Mariam Adetoyi" userId="7e81e1d6fa8fc368" providerId="LiveId" clId="{3C3DC834-3685-4743-B832-70FC510EA59C}" dt="2026-08-12T13:21:36.980" v="10"/>
          <ac:graphicFrameMkLst>
            <pc:docMk/>
            <pc:sldMk cId="0" sldId="262"/>
            <ac:graphicFrameMk id="6" creationId="{00000000-0000-0000-0000-000000000000}"/>
          </ac:graphicFrameMkLst>
        </pc:graphicFrameChg>
      </pc:sldChg>
      <pc:sldChg chg="setBg">
        <pc:chgData name="Mariam Adetoyi" userId="7e81e1d6fa8fc368" providerId="LiveId" clId="{3C3DC834-3685-4743-B832-70FC510EA59C}" dt="2026-08-12T13:24:32.367" v="11"/>
        <pc:sldMkLst>
          <pc:docMk/>
          <pc:sldMk cId="0" sldId="263"/>
        </pc:sldMkLst>
      </pc:sldChg>
      <pc:sldChg chg="setBg">
        <pc:chgData name="Mariam Adetoyi" userId="7e81e1d6fa8fc368" providerId="LiveId" clId="{3C3DC834-3685-4743-B832-70FC510EA59C}" dt="2026-08-12T13:24:32.367" v="11"/>
        <pc:sldMkLst>
          <pc:docMk/>
          <pc:sldMk cId="0" sldId="264"/>
        </pc:sldMkLst>
      </pc:sldChg>
      <pc:sldChg chg="setBg">
        <pc:chgData name="Mariam Adetoyi" userId="7e81e1d6fa8fc368" providerId="LiveId" clId="{3C3DC834-3685-4743-B832-70FC510EA59C}" dt="2026-08-12T13:24:32.367" v="11"/>
        <pc:sldMkLst>
          <pc:docMk/>
          <pc:sldMk cId="0" sldId="265"/>
        </pc:sldMkLst>
      </pc:sldChg>
      <pc:sldChg chg="setBg">
        <pc:chgData name="Mariam Adetoyi" userId="7e81e1d6fa8fc368" providerId="LiveId" clId="{3C3DC834-3685-4743-B832-70FC510EA59C}" dt="2026-08-12T13:24:32.367" v="11"/>
        <pc:sldMkLst>
          <pc:docMk/>
          <pc:sldMk cId="0" sldId="266"/>
        </pc:sldMkLst>
      </pc:sldChg>
      <pc:sldChg chg="setBg">
        <pc:chgData name="Mariam Adetoyi" userId="7e81e1d6fa8fc368" providerId="LiveId" clId="{3C3DC834-3685-4743-B832-70FC510EA59C}" dt="2026-08-12T13:24:32.367" v="11"/>
        <pc:sldMkLst>
          <pc:docMk/>
          <pc:sldMk cId="0" sldId="267"/>
        </pc:sldMkLst>
      </pc:sldChg>
      <pc:sldMasterChg chg="setBg modSldLayout">
        <pc:chgData name="Mariam Adetoyi" userId="7e81e1d6fa8fc368" providerId="LiveId" clId="{3C3DC834-3685-4743-B832-70FC510EA59C}" dt="2026-08-12T13:24:32.367" v="11"/>
        <pc:sldMasterMkLst>
          <pc:docMk/>
          <pc:sldMasterMk cId="0" sldId="2147483648"/>
        </pc:sldMasterMkLst>
        <pc:sldLayoutChg chg="setBg">
          <pc:chgData name="Mariam Adetoyi" userId="7e81e1d6fa8fc368" providerId="LiveId" clId="{3C3DC834-3685-4743-B832-70FC510EA59C}" dt="2026-08-12T13:24:32.367" v="11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chemeClr val="bg1"/>
                </a:solidFill>
                <a:latin typeface="Calibri"/>
              </a:rPr>
              <a:t>Current employees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employees by department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</c:v>
                </c:pt>
                <c:pt idx="2">
                  <c:v>Human Resources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835</c:v>
                </c:pt>
                <c:pt idx="1">
                  <c:v>356</c:v>
                </c:pt>
                <c:pt idx="2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1F-4FC7-82D5-1ADD46397D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bg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bg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 algn="ctr">
              <a:defRPr lang="en-GB" sz="900" b="0" i="0" u="none" strike="noStrike" kern="1200" baseline="0">
                <a:solidFill>
                  <a:schemeClr val="bg1"/>
                </a:solidFill>
                <a:latin typeface="Calibri"/>
                <a:ea typeface="+mn-ea"/>
                <a:cs typeface="+mn-cs"/>
              </a:defRPr>
            </a:pPr>
            <a:r>
              <a:rPr lang="en-GB" sz="900" b="0" i="0" u="none" strike="noStrike" kern="1200" baseline="0">
                <a:solidFill>
                  <a:schemeClr val="bg1"/>
                </a:solidFill>
                <a:latin typeface="Calibri"/>
                <a:ea typeface="+mn-ea"/>
                <a:cs typeface="+mn-cs"/>
              </a:rPr>
              <a:t>Current vs. Attrition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13-4DB3-845D-AA41FEA0ACE4}"/>
              </c:ext>
            </c:extLst>
          </c:dPt>
          <c:dPt>
            <c:idx val="1"/>
            <c:bubble3D val="0"/>
            <c:spPr>
              <a:solidFill>
                <a:srgbClr val="F2A6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13-4DB3-845D-AA41FEA0ACE4}"/>
              </c:ext>
            </c:extLst>
          </c:dPt>
          <c:cat>
            <c:strRef>
              <c:f>Sheet1!$A$2:$A$3</c:f>
              <c:strCache>
                <c:ptCount val="2"/>
                <c:pt idx="0">
                  <c:v>Current employees</c:v>
                </c:pt>
                <c:pt idx="1">
                  <c:v>Employees 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1242</c:v>
                </c:pt>
                <c:pt idx="1">
                  <c:v>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13-4DB3-845D-AA41FEA0A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 algn="ctr" rtl="0">
            <a:defRPr lang="en-US" sz="900" b="0" i="0" u="none" strike="noStrike" kern="1200" baseline="0">
              <a:solidFill>
                <a:schemeClr val="bg1"/>
              </a:solidFill>
              <a:latin typeface="Calibri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GB"/>
              <a:t>Attrition count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 by department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</c:v>
                </c:pt>
                <c:pt idx="2">
                  <c:v>Human Resources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</c:v>
                </c:pt>
                <c:pt idx="1">
                  <c:v>92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0C-4394-971A-911FB66C7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 algn="ctr" rtl="0">
        <a:defRPr lang="en-US" sz="1200" b="0" i="0" u="none" strike="noStrike" kern="1200" baseline="0">
          <a:solidFill>
            <a:schemeClr val="bg1"/>
          </a:solidFill>
          <a:latin typeface="Calibri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chemeClr val="bg1"/>
                </a:solidFill>
                <a:latin typeface="Calibri"/>
              </a:rPr>
              <a:t>Attrition rate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department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Human Resources</c:v>
                </c:pt>
                <c:pt idx="2">
                  <c:v>R&amp;D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0.20535714285714285</c:v>
                </c:pt>
                <c:pt idx="1">
                  <c:v>0.19047619047619047</c:v>
                </c:pt>
                <c:pt idx="2">
                  <c:v>0.14271047227926079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57-4C20-A3CF-DAC9E1E45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 algn="ctr" rtl="0">
              <a:defRPr lang="en-US" sz="1200" b="0" i="0" u="none" strike="noStrike" kern="1200" baseline="0">
                <a:solidFill>
                  <a:schemeClr val="bg1"/>
                </a:solidFill>
                <a:latin typeface="Calibri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bg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chemeClr val="bg1"/>
                </a:solidFill>
                <a:latin typeface="Calibri"/>
              </a:rPr>
              <a:t>Top job-role attrition rates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9224961010308501E-2"/>
          <c:y val="0.12183544303797467"/>
          <c:w val="0.89903590855490889"/>
          <c:h val="0.796595401840592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job-role attrition rates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Sales Rep</c:v>
                </c:pt>
                <c:pt idx="1">
                  <c:v>Lab Technician</c:v>
                </c:pt>
                <c:pt idx="2">
                  <c:v>Human Resources</c:v>
                </c:pt>
                <c:pt idx="3">
                  <c:v>Sales Executive</c:v>
                </c:pt>
                <c:pt idx="4">
                  <c:v>Research Sci.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0.39759036144578314</c:v>
                </c:pt>
                <c:pt idx="1">
                  <c:v>0.24809160305343511</c:v>
                </c:pt>
                <c:pt idx="2">
                  <c:v>0.23076923076923078</c:v>
                </c:pt>
                <c:pt idx="3">
                  <c:v>0.17378048780487804</c:v>
                </c:pt>
                <c:pt idx="4">
                  <c:v>0.16949152542372881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4C-431F-BD1A-E234245BE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bg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bg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GB"/>
              <a:t>Top education-field attrition rates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education-field attrition rates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Technical</c:v>
                </c:pt>
                <c:pt idx="1">
                  <c:v>HR</c:v>
                </c:pt>
                <c:pt idx="2">
                  <c:v>Marketing</c:v>
                </c:pt>
                <c:pt idx="3">
                  <c:v>Life Sciences</c:v>
                </c:pt>
                <c:pt idx="4">
                  <c:v>Medical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0.25925925925925924</c:v>
                </c:pt>
                <c:pt idx="1">
                  <c:v>0.25925925925925924</c:v>
                </c:pt>
                <c:pt idx="2">
                  <c:v>0.21739130434782608</c:v>
                </c:pt>
                <c:pt idx="3">
                  <c:v>0.14518760195758565</c:v>
                </c:pt>
                <c:pt idx="4">
                  <c:v>0.14132762312633834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F8-4756-A39B-08906BCF6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 algn="ctr">
        <a:defRPr lang="en-US" sz="900" b="0" i="0" u="none" strike="noStrike" kern="1200" baseline="0">
          <a:solidFill>
            <a:schemeClr val="bg1"/>
          </a:solidFill>
          <a:latin typeface="Calibri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404040"/>
                </a:solidFill>
                <a:latin typeface="Calibri"/>
              </a:rPr>
              <a:t>Attrition rate by years at company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years at company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 years</c:v>
                </c:pt>
                <c:pt idx="1">
                  <c:v>1-2 years</c:v>
                </c:pt>
                <c:pt idx="2">
                  <c:v>3-5 years</c:v>
                </c:pt>
                <c:pt idx="3">
                  <c:v>6-10 years</c:v>
                </c:pt>
                <c:pt idx="4">
                  <c:v>11+ years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0.36363636363636365</c:v>
                </c:pt>
                <c:pt idx="1">
                  <c:v>0.29568106312292358</c:v>
                </c:pt>
                <c:pt idx="2">
                  <c:v>0.13824884792626729</c:v>
                </c:pt>
                <c:pt idx="3">
                  <c:v>0.12803532008830021</c:v>
                </c:pt>
                <c:pt idx="4">
                  <c:v>7.9051383399209488E-2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9-4333-BF13-ECDAFB650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bg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404040"/>
                </a:solidFill>
                <a:latin typeface="Calibri"/>
              </a:rPr>
              <a:t>Attrition rate by years in current role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4974541470604473E-2"/>
          <c:y val="0.12183544303797467"/>
          <c:w val="0.90001044351438053"/>
          <c:h val="0.80692104942578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years in current role</c:v>
                </c:pt>
              </c:strCache>
            </c:strRef>
          </c:tx>
          <c:spPr>
            <a:ln w="25400" cap="flat">
              <a:solidFill>
                <a:srgbClr val="F2A67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A679"/>
              </a:solidFill>
              <a:ln w="9525" cap="flat">
                <a:solidFill>
                  <a:srgbClr val="F2A679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0.29918032786885246</c:v>
                </c:pt>
                <c:pt idx="1">
                  <c:v>0.19298245614035087</c:v>
                </c:pt>
                <c:pt idx="2">
                  <c:v>0.18933333333333333</c:v>
                </c:pt>
                <c:pt idx="3">
                  <c:v>0.11851851851851852</c:v>
                </c:pt>
                <c:pt idx="4">
                  <c:v>0.14423076923076922</c:v>
                </c:pt>
                <c:pt idx="5">
                  <c:v>2.7777777777777776E-2</c:v>
                </c:pt>
                <c:pt idx="6">
                  <c:v>0.05</c:v>
                </c:pt>
                <c:pt idx="7">
                  <c:v>0.13716814159292035</c:v>
                </c:pt>
                <c:pt idx="8">
                  <c:v>7.8651685393258425E-2</c:v>
                </c:pt>
                <c:pt idx="9">
                  <c:v>0.12857142857142856</c:v>
                </c:pt>
                <c:pt idx="10">
                  <c:v>6.8965517241379309E-2</c:v>
                </c:pt>
                <c:pt idx="11">
                  <c:v>0</c:v>
                </c:pt>
                <c:pt idx="12">
                  <c:v>8.3333333333333329E-2</c:v>
                </c:pt>
                <c:pt idx="13">
                  <c:v>7.1428571428571425E-2</c:v>
                </c:pt>
                <c:pt idx="14">
                  <c:v>9.0909090909090912E-2</c:v>
                </c:pt>
                <c:pt idx="15">
                  <c:v>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70-455D-B8AB-8F665B0FFD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404040"/>
                </a:solidFill>
                <a:latin typeface="Calibri"/>
              </a:rPr>
              <a:t>Attrition rate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age group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&lt;25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0.39175257731958762</c:v>
                </c:pt>
                <c:pt idx="1">
                  <c:v>0.20216606498194944</c:v>
                </c:pt>
                <c:pt idx="2">
                  <c:v>0.100990099009901</c:v>
                </c:pt>
                <c:pt idx="3">
                  <c:v>0.10204081632653061</c:v>
                </c:pt>
                <c:pt idx="4">
                  <c:v>0.15942028985507245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91-4C87-8D37-E2F95B3CD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404040"/>
                </a:solidFill>
                <a:latin typeface="Calibri"/>
              </a:rPr>
              <a:t>Attrition rate by overtime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overtime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0.31026252983293556</c:v>
                </c:pt>
                <c:pt idx="1">
                  <c:v>0.10600375234521577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BD-46EE-A5D6-0DB1202D0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404040"/>
                </a:solidFill>
                <a:latin typeface="Calibri"/>
              </a:rPr>
              <a:t>Attrition rate by travel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travel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Frequent</c:v>
                </c:pt>
                <c:pt idx="1">
                  <c:v>Rarely</c:v>
                </c:pt>
                <c:pt idx="2">
                  <c:v>None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0.24909747292418771</c:v>
                </c:pt>
                <c:pt idx="1">
                  <c:v>0.15340909090909091</c:v>
                </c:pt>
                <c:pt idx="2">
                  <c:v>7.8947368421052627E-2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36-44BE-AA50-D1F405B7FD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Average survey scores by attrition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Environment</c:v>
                </c:pt>
                <c:pt idx="1">
                  <c:v>Job</c:v>
                </c:pt>
                <c:pt idx="2">
                  <c:v>Relationship</c:v>
                </c:pt>
                <c:pt idx="3">
                  <c:v>Work-Life</c:v>
                </c:pt>
                <c:pt idx="4">
                  <c:v>Involvement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2.4650205761316872</c:v>
                </c:pt>
                <c:pt idx="1">
                  <c:v>2.4938271604938271</c:v>
                </c:pt>
                <c:pt idx="2">
                  <c:v>2.6090534979423867</c:v>
                </c:pt>
                <c:pt idx="3">
                  <c:v>2.6543209876543208</c:v>
                </c:pt>
                <c:pt idx="4">
                  <c:v>2.5308641975308643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5F-40FF-A931-67CAA81087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Environment</c:v>
                </c:pt>
                <c:pt idx="1">
                  <c:v>Job</c:v>
                </c:pt>
                <c:pt idx="2">
                  <c:v>Relationship</c:v>
                </c:pt>
                <c:pt idx="3">
                  <c:v>Work-Life</c:v>
                </c:pt>
                <c:pt idx="4">
                  <c:v>Involvement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2.7665056360708533</c:v>
                </c:pt>
                <c:pt idx="1">
                  <c:v>2.7785829307568437</c:v>
                </c:pt>
                <c:pt idx="2">
                  <c:v>2.7294685990338166</c:v>
                </c:pt>
                <c:pt idx="3">
                  <c:v>2.7785829307568437</c:v>
                </c:pt>
                <c:pt idx="4">
                  <c:v>2.7689210950080514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5F-40FF-A931-67CAA81087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87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13232"/>
            <a:ext cx="0" cy="5394960"/>
          </a:xfrm>
          <a:prstGeom prst="line">
            <a:avLst/>
          </a:prstGeom>
          <a:noFill/>
          <a:ln w="3810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69264" y="9601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Solutions Inc.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9264" y="153619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Attrition &amp; Performance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87552" y="26151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Excel portfolio presentation: from workforce demographics to HR retention recommendations.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87552" y="43434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4846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analysed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337560" y="43434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4846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577840" y="43434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4846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</a:t>
            </a:r>
            <a:r>
              <a:rPr lang="en-US" sz="12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7552" y="5833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Mariam Adetoyi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61447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Power BI | SQL | Excel | Tableau</a:t>
            </a:r>
            <a:endParaRPr lang="en-US" sz="1050" dirty="0"/>
          </a:p>
        </p:txBody>
      </p:sp>
      <p:pic>
        <p:nvPicPr>
          <p:cNvPr id="14" name="Image 0" descr="/mnt/data/hr_analysis_report/HR_Analytics_Dashboard_up.png"/>
          <p:cNvPicPr>
            <a:picLocks noChangeAspect="1"/>
          </p:cNvPicPr>
          <p:nvPr/>
        </p:nvPicPr>
        <p:blipFill>
          <a:blip r:embed="rId3"/>
          <a:srcRect l="6944" r="6944"/>
          <a:stretch/>
        </p:blipFill>
        <p:spPr>
          <a:xfrm>
            <a:off x="8549640" y="1188720"/>
            <a:ext cx="28346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7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concentrated in specific groups - not evenly distributed across the workforce</a:t>
            </a:r>
            <a:endParaRPr lang="en-US" sz="126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154680" y="1554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15468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department rate</a:t>
            </a:r>
            <a:r>
              <a:rPr lang="en-US" sz="12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Sales</a:t>
            </a:r>
            <a:endParaRPr lang="en-U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72200" y="1554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7220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role rate: Sales Rep</a:t>
            </a:r>
          </a:p>
        </p:txBody>
      </p:sp>
      <p:sp>
        <p:nvSpPr>
          <p:cNvPr id="11" name="Text 9"/>
          <p:cNvSpPr/>
          <p:nvPr/>
        </p:nvSpPr>
        <p:spPr>
          <a:xfrm>
            <a:off x="9235440" y="1554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2354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among overtime staff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9077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1069848" y="2877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has the largest number of leavers, but Sales has the higher attrition rate - so volume and risk should be interpreted </a:t>
            </a:r>
            <a:r>
              <a:rPr lang="en-US" sz="126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separately.</a:t>
            </a:r>
            <a:endParaRPr lang="en-US" sz="126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4381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1033272" y="343814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employees are the clearest retention risk: 0 years and 1-2 years at company show the highest attrition rates.</a:t>
            </a:r>
          </a:p>
        </p:txBody>
      </p:sp>
      <p:sp>
        <p:nvSpPr>
          <p:cNvPr id="17" name="Text 15"/>
          <p:cNvSpPr/>
          <p:nvPr/>
        </p:nvSpPr>
        <p:spPr>
          <a:xfrm>
            <a:off x="777240" y="39684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1033272" y="39684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</a:t>
            </a:r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14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major warning signal: employees doing overtime leave at roughly three times the rate of non-overtime employees.</a:t>
            </a:r>
            <a:endParaRPr lang="en-US" sz="144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4498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033272" y="44988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 had lower average satisfaction and lower average monthly income than those who stayed.</a:t>
            </a:r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HR leaders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5852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 should be targeted by department, role,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overtime exposure and employee experience - not treated as a single organisation-wide issue.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project aim</a:t>
            </a:r>
            <a:endParaRPr lang="en-US" sz="27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needed a clearer view of workforce risk and retention drivers</a:t>
            </a:r>
            <a:endParaRPr lang="en-US" sz="126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371600" cy="29260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987552" y="19202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may reduce productivity, continuity and organisational </a:t>
            </a:r>
            <a:r>
              <a:rPr lang="en-US" sz="126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performance.</a:t>
            </a:r>
            <a:endParaRPr lang="en-US" sz="126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404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987552" y="240487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trends were not clearly understood across department, role, demographics and tenure.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28895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scores and employee experience needed to be connected to turnover patterns.</a:t>
            </a:r>
            <a:endParaRPr lang="en-US" sz="138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3741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987552" y="337413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8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needed a dashboard story to support evidence-based decisions.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0" y="1481328"/>
            <a:ext cx="1143000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56832" y="1920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associated with attrition.</a:t>
            </a:r>
            <a:endParaRPr lang="en-US" sz="138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404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56832" y="24048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8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workforce demographics and current employees.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0" y="28895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56832" y="288950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attrition patterns across job role, gender, age, education and tenure.</a:t>
            </a:r>
            <a:endParaRPr lang="en-US" sz="138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55664" y="33741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56832" y="33741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38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findings into HR recommendations using Tableau storytelling.</a:t>
            </a:r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lens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543153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separates attrition count from attrition rate. This is important because a large group can produce more leavers simply because it has more employees,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smaller group may carry a higher proportional risk.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overview</a:t>
            </a:r>
            <a:endParaRPr lang="en-US" sz="27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employee base before interpreting attrition</a:t>
            </a:r>
            <a:endParaRPr lang="en-US" sz="126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80351754"/>
              </p:ext>
            </p:extLst>
          </p:nvPr>
        </p:nvGraphicFramePr>
        <p:xfrm>
          <a:off x="640080" y="150876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150502546"/>
              </p:ext>
            </p:extLst>
          </p:nvPr>
        </p:nvGraphicFramePr>
        <p:xfrm>
          <a:off x="6492240" y="1600200"/>
          <a:ext cx="2743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9555480" y="1673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snapshot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9555480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1,242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9555480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employees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9555480" y="3291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555480" y="3794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</a:t>
            </a:r>
            <a:endParaRPr lang="en-U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7724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77240" y="557784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is the largest department, so it naturally contributes the highest number of leavers. Rate-based analysis is needed before treating it as the highest retention-risk area.</a:t>
            </a:r>
          </a:p>
        </p:txBody>
      </p:sp>
      <p:sp>
        <p:nvSpPr>
          <p:cNvPr id="14" name="Text 10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attrition: count vs rate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number of leavers is not the same as the highest risk</a:t>
            </a:r>
            <a:endParaRPr lang="en-US" sz="126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14646433"/>
              </p:ext>
            </p:extLst>
          </p:nvPr>
        </p:nvGraphicFramePr>
        <p:xfrm>
          <a:off x="640080" y="1417320"/>
          <a:ext cx="51663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1736407203"/>
              </p:ext>
            </p:extLst>
          </p:nvPr>
        </p:nvGraphicFramePr>
        <p:xfrm>
          <a:off x="6400800" y="1417320"/>
          <a:ext cx="51663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749808" y="5138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9808" y="548640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recorded the largest attrition count (139 leavers), but Sales has the highest attrition rate at 20.5%. This means HR should prioritise Sales for proportional retention risk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while</a:t>
            </a: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monitoring R&amp;D because of its workforce size.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education risk areas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job roles and education fields show materially higher turnover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130853217"/>
              </p:ext>
            </p:extLst>
          </p:nvPr>
        </p:nvGraphicFramePr>
        <p:xfrm>
          <a:off x="640080" y="1444752"/>
          <a:ext cx="52578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1304373516"/>
              </p:ext>
            </p:extLst>
          </p:nvPr>
        </p:nvGraphicFramePr>
        <p:xfrm>
          <a:off x="6400800" y="1444752"/>
          <a:ext cx="52578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777240" y="5166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8" name="Text 4"/>
          <p:cNvSpPr/>
          <p:nvPr/>
        </p:nvSpPr>
        <p:spPr>
          <a:xfrm>
            <a:off x="1033272" y="51663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Sales</a:t>
            </a:r>
            <a:r>
              <a:rPr lang="en-US" sz="13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Representative has the highest role attrition rate (39.8%), despite being a smaller population than Sales Executive or Laboratory Technician.</a:t>
            </a:r>
            <a:endParaRPr lang="en-US" sz="132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777240" y="55595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0" name="Text 6"/>
          <p:cNvSpPr/>
          <p:nvPr/>
        </p:nvSpPr>
        <p:spPr>
          <a:xfrm>
            <a:off x="1033272" y="55595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 contributes the highest number of leavers (65), making it important from a workforce planning perspective.</a:t>
            </a:r>
            <a:endParaRPr lang="en-US" sz="132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77240" y="59527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2" name="Text 8"/>
          <p:cNvSpPr/>
          <p:nvPr/>
        </p:nvSpPr>
        <p:spPr>
          <a:xfrm>
            <a:off x="1033272" y="595274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Degree, Human Resources and Marketing education fields show higher attrition rates than Life Sciences, Medical and Other </a:t>
            </a:r>
            <a:r>
              <a:rPr lang="en-US" sz="132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fields.</a:t>
            </a:r>
            <a:endParaRPr lang="en-US" sz="132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risk: attrition is highest early in the employee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retention opportunity is within onboarding and early-role support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124784600"/>
              </p:ext>
            </p:extLst>
          </p:nvPr>
        </p:nvGraphicFramePr>
        <p:xfrm>
          <a:off x="640080" y="1417320"/>
          <a:ext cx="5303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163476639"/>
              </p:ext>
            </p:extLst>
          </p:nvPr>
        </p:nvGraphicFramePr>
        <p:xfrm>
          <a:off x="6492240" y="1417320"/>
          <a:ext cx="50749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77724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5522976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0 years at company have an attrition rate of 36.4%, while those with 1-2 years are at 29.6%. This suggests the first stage of employment is a critical retention period.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and workload signals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employees and overtime workers show elevated attrition risk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0"/>
          <p:cNvGraphicFramePr/>
          <p:nvPr/>
        </p:nvGraphicFramePr>
        <p:xfrm>
          <a:off x="594360" y="1417320"/>
          <a:ext cx="37490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26280" y="1417320"/>
          <a:ext cx="31089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7909560" y="1417320"/>
          <a:ext cx="36118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3"/>
          <p:cNvSpPr/>
          <p:nvPr/>
        </p:nvSpPr>
        <p:spPr>
          <a:xfrm>
            <a:off x="749808" y="50749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9" name="Text 4"/>
          <p:cNvSpPr/>
          <p:nvPr/>
        </p:nvSpPr>
        <p:spPr>
          <a:xfrm>
            <a:off x="1005840" y="50749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under 25 have a high attrition rate of 39.2%; the 25-34 group is also above average at 20.2%.</a:t>
            </a:r>
            <a:endParaRPr lang="en-US" sz="1320" dirty="0"/>
          </a:p>
        </p:txBody>
      </p:sp>
      <p:sp>
        <p:nvSpPr>
          <p:cNvPr id="10" name="Text 5"/>
          <p:cNvSpPr/>
          <p:nvPr/>
        </p:nvSpPr>
        <p:spPr>
          <a:xfrm>
            <a:off x="749808" y="54589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1" name="Text 6"/>
          <p:cNvSpPr/>
          <p:nvPr/>
        </p:nvSpPr>
        <p:spPr>
          <a:xfrm>
            <a:off x="1005840" y="5458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 show 31.0% attrition compared with 10.6% among non-overtime workers.</a:t>
            </a:r>
            <a:endParaRPr lang="en-US" sz="1320" dirty="0"/>
          </a:p>
        </p:txBody>
      </p:sp>
      <p:sp>
        <p:nvSpPr>
          <p:cNvPr id="12" name="Text 7"/>
          <p:cNvSpPr/>
          <p:nvPr/>
        </p:nvSpPr>
        <p:spPr>
          <a:xfrm>
            <a:off x="749808" y="5843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3" name="Text 8"/>
          <p:cNvSpPr/>
          <p:nvPr/>
        </p:nvSpPr>
        <p:spPr>
          <a:xfrm>
            <a:off x="1005840" y="584301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travellers show higher attrition (24.9%) than rare or non-travellers.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experience: satisfaction and pay signals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score lower on key satisfaction measures and have lower average income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417320"/>
          <a:ext cx="5715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720840" y="1508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£4,757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72084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 - leavers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0" y="1508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£6,872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14400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 - stayed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20840" y="2907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72084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distance from home - leavers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0" y="2907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distance from home - stayed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20840" y="4279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720840" y="4782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total working years - leavers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0" y="4279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144000" y="4782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total working years - stayed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Lower satisfaction, lower income and shorter career tenure are associated with attrition in this dataset. These should be treated as risk signals, not proof of direct causation.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Story: how to present the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workforce context to attrition risk, then recommendations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data/hr_analysis_report/HR_Analytics_Dashboard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89888"/>
            <a:ext cx="397764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463040"/>
            <a:ext cx="2743200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STORY FLOW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956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6656832" y="19568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Workforce overview and KPIs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6400800" y="23408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6656832" y="23408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Department count vs rate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6400800" y="27249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6656832" y="27249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Job-role and education risk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6400800" y="31089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6656832" y="3108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Tenure, age, overtime and travel signals</a:t>
            </a:r>
            <a:endParaRPr lang="en-US" sz="1340" dirty="0"/>
          </a:p>
        </p:txBody>
      </p:sp>
      <p:sp>
        <p:nvSpPr>
          <p:cNvPr id="15" name="Text 12"/>
          <p:cNvSpPr/>
          <p:nvPr/>
        </p:nvSpPr>
        <p:spPr>
          <a:xfrm>
            <a:off x="6400800" y="34930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6656832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Survey score comparison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640080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8" name="Text 15"/>
          <p:cNvSpPr/>
          <p:nvPr/>
        </p:nvSpPr>
        <p:spPr>
          <a:xfrm>
            <a:off x="6656832" y="3877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HR recommendations and next steps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6400800" y="4709160"/>
            <a:ext cx="2194560" cy="29260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0" y="5166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saying only “R&amp;D has the highest attrition.” Say: “R&amp;D has the highest count, but Sales has the highest rate.” This sounds more analytical and shows you understand denominator effects.</a:t>
            </a:r>
            <a:endParaRPr lang="en-US" sz="134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Talent-Pulse HR leadership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 into targeted retention action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384048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1872" y="1426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Sales retention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4343400" y="1426464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has the highest departmental attrition rate. Review sales targets, workload, management support, incentives and progression.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early-tenure support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4343400" y="228600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within 0-2 years suggests onboarding, role expectation and manager check-in improvements could reduce early exits.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384048" cy="38404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61872" y="31455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overtime pressure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343400" y="3145536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 show a much higher attrition rate. Monitor overtime frequency and workload distribution by team and role.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4005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role-specific interventions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4343400" y="4005072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and Laboratory Technicians need different retention responses because one carries higher rate risk and the other higher volume impact.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731520" y="4882896"/>
            <a:ext cx="384048" cy="38404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4864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survey scores as warning indicators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343400" y="486460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satisfaction and work-life balance by team, role and tenure to identify risk before employees leave.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77240" y="5961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97480" y="59618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attrition rate, early-tenure exits, overtime exposure, survey score movement and role-level leaver count monthly.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would present this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talk track for interview or portfolio presentation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777240" y="1856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77640" y="185623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had high attrition but needed to know where the risk was concentrated and which factors were linked with leavers.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777240" y="2889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288950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the employee dataset to calculate attrition counts, attrition rates, employee demographics, tenure patterns and survey-score comparisons.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777240" y="3922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key insight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77640" y="392277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finding is that attrition should not be judged by count alone. Sales has the highest department rate, while R&amp;D has the largest number of leavers.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777240" y="4956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49560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recommendations focus on early-tenure support, overtime monitoring, role-specific retention and survey-score tracking.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777240" y="6080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line: “This project shows my ability to move from raw workforce data to clear HR insight and practical recommendations.”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Talent-Pulse Workforce Attrition Analysis - Workbook Colours</dc:title>
  <dc:subject>Talent-Pulse Workforce Attrition Analysis</dc:subject>
  <dc:creator>Mariam Adetoyi</dc:creator>
  <cp:lastModifiedBy>Mariam Adetoyi</cp:lastModifiedBy>
  <cp:revision>1</cp:revision>
  <dcterms:created xsi:type="dcterms:W3CDTF">2026-08-11T15:46:02Z</dcterms:created>
  <dcterms:modified xsi:type="dcterms:W3CDTF">2026-08-12T13:40:06Z</dcterms:modified>
</cp:coreProperties>
</file>